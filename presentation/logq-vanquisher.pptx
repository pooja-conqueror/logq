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1695" cy="5486"/>
          </a:xfrm>
          <a:prstGeom prst="rect">
            <a:avLst/>
          </a:prstGeom>
          <a:solidFill>
            <a:srgbClr val="1A244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1A244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371600"/>
            <a:ext cx="12191695" cy="5486"/>
          </a:xfrm>
          <a:prstGeom prst="rect">
            <a:avLst/>
          </a:prstGeom>
          <a:solidFill>
            <a:srgbClr val="1A244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1A2440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2286000"/>
            <a:ext cx="12191695" cy="5486"/>
          </a:xfrm>
          <a:prstGeom prst="rect">
            <a:avLst/>
          </a:prstGeom>
          <a:solidFill>
            <a:srgbClr val="1A2440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1A2440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1A2440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1A2440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4114800"/>
            <a:ext cx="12191695" cy="5486"/>
          </a:xfrm>
          <a:prstGeom prst="rect">
            <a:avLst/>
          </a:prstGeom>
          <a:solidFill>
            <a:srgbClr val="1A2440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1A2440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029200"/>
            <a:ext cx="12191695" cy="5486"/>
          </a:xfrm>
          <a:prstGeom prst="rect">
            <a:avLst/>
          </a:prstGeom>
          <a:solidFill>
            <a:srgbClr val="1A244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1A244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5943600"/>
            <a:ext cx="12191695" cy="5486"/>
          </a:xfrm>
          <a:prstGeom prst="rect">
            <a:avLst/>
          </a:prstGeom>
          <a:solidFill>
            <a:srgbClr val="1A2440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1A2440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5074920"/>
            <a:ext cx="12191695" cy="45720"/>
          </a:xfrm>
          <a:prstGeom prst="rect">
            <a:avLst/>
          </a:prstGeom>
          <a:solidFill>
            <a:srgbClr val="00ADD8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777240"/>
            <a:ext cx="155448" cy="15544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9" name="Shape 17"/>
          <p:cNvSpPr/>
          <p:nvPr/>
        </p:nvSpPr>
        <p:spPr>
          <a:xfrm>
            <a:off x="1078992" y="777240"/>
            <a:ext cx="155448" cy="15544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0" name="Shape 18"/>
          <p:cNvSpPr/>
          <p:nvPr/>
        </p:nvSpPr>
        <p:spPr>
          <a:xfrm>
            <a:off x="1335024" y="777240"/>
            <a:ext cx="155448" cy="15544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1" name="Text 19"/>
          <p:cNvSpPr/>
          <p:nvPr/>
        </p:nvSpPr>
        <p:spPr>
          <a:xfrm>
            <a:off x="1737360" y="658368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vanquisher@logq</a:t>
            </a:r>
            <a:pPr indent="0" marL="0">
              <a:buNone/>
            </a:pPr>
            <a:r>
              <a:rPr lang="en-US" sz="1500" dirty="0">
                <a:solidFill>
                  <a:srgbClr val="8B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:~$ </a:t>
            </a:r>
            <a:pPr indent="0" marL="0">
              <a:buNone/>
            </a:pPr>
            <a:r>
              <a:rPr lang="en-US" sz="1500" dirty="0">
                <a:solidFill>
                  <a:srgbClr val="E9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./bin/logq --version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2960" y="14630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 DEPENDENCY HACKATHON 2026  ·  TRACK B — PARSERS &amp; DATA FORMATS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1874520"/>
            <a:ext cx="7315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logq</a:t>
            </a:r>
            <a:endParaRPr lang="en-US" sz="10400" dirty="0"/>
          </a:p>
        </p:txBody>
      </p:sp>
      <p:sp>
        <p:nvSpPr>
          <p:cNvPr id="24" name="Text 22"/>
          <p:cNvSpPr/>
          <p:nvPr/>
        </p:nvSpPr>
        <p:spPr>
          <a:xfrm>
            <a:off x="822960" y="370332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AAB8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 gigabytes of logs with one line.</a:t>
            </a:r>
            <a:endParaRPr lang="en-US" sz="2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AAB8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dependencies. One static binary.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822960" y="5394960"/>
            <a:ext cx="457200" cy="457200"/>
          </a:xfrm>
          <a:prstGeom prst="rect">
            <a:avLst/>
          </a:prstGeom>
          <a:solidFill>
            <a:srgbClr val="00ADD8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394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417320" y="5394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Vanquisher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github.com/pooja-conqueror/LOGQ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161B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"/>
            <a:ext cx="12191695" cy="27432"/>
          </a:xfrm>
          <a:prstGeom prst="rect">
            <a:avLst/>
          </a:prstGeom>
          <a:solidFill>
            <a:srgbClr val="00ADD8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82880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603504" y="182880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" y="182880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45720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vanquisher@logq</a:t>
            </a:r>
            <a:pPr indent="0" marL="0">
              <a:buNone/>
            </a:pPr>
            <a:r>
              <a:rPr lang="en-US" sz="1350" dirty="0">
                <a:solidFill>
                  <a:srgbClr val="8B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350" dirty="0">
                <a:solidFill>
                  <a:srgbClr val="7F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~/problem</a:t>
            </a:r>
            <a:pPr indent="0" marL="0">
              <a:buNone/>
            </a:pPr>
            <a:r>
              <a:rPr lang="en-US" sz="1350" dirty="0">
                <a:solidFill>
                  <a:srgbClr val="8B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$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601200" y="45720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 02 / 13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6803136"/>
            <a:ext cx="12191695" cy="18288"/>
          </a:xfrm>
          <a:prstGeom prst="rect">
            <a:avLst/>
          </a:prstGeom>
          <a:solidFill>
            <a:srgbClr val="2A305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logq · Team Vanquisher · Track B — Parsers &amp; Data Formats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685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8B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indent="0" marL="0">
              <a:buNone/>
            </a:pPr>
            <a:r>
              <a:rPr lang="en-US" sz="1400" b="1" spc="100" kern="0" dirty="0">
                <a:solidFill>
                  <a:srgbClr val="5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the-problem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1078992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Logs are structured. Our tools still treat them as text.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521208" y="1801368"/>
            <a:ext cx="1005840" cy="41148"/>
          </a:xfrm>
          <a:prstGeom prst="rect">
            <a:avLst/>
          </a:prstGeom>
          <a:solidFill>
            <a:srgbClr val="00ADD8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1920240"/>
            <a:ext cx="108813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28000"/>
              </a:lnSpc>
              <a:buSzPct val="100000"/>
              <a:buChar char="▸"/>
            </a:pPr>
            <a:r>
              <a:rPr lang="en-US" sz="1800" b="1" dirty="0">
                <a:solidFill>
                  <a:srgbClr val="00AD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grep / awk</a:t>
            </a:r>
            <a:endParaRPr lang="en-US" sz="1700" dirty="0"/>
          </a:p>
          <a:p>
            <a:pPr lvl="1" indent="0" marL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8B93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Fast, everywhere — but no idea what a "field" is. No aggregation, no time windows.</a:t>
            </a:r>
            <a:endParaRPr lang="en-US" sz="1700" dirty="0"/>
          </a:p>
          <a:p>
            <a:pPr marL="279400" indent="-279400">
              <a:lnSpc>
                <a:spcPct val="128000"/>
              </a:lnSpc>
              <a:buSzPct val="100000"/>
              <a:buChar char="▸"/>
            </a:pPr>
            <a:r>
              <a:rPr lang="en-US" sz="1800" b="1" dirty="0">
                <a:solidFill>
                  <a:srgbClr val="00AD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jq</a:t>
            </a:r>
            <a:endParaRPr lang="en-US" sz="1700" dirty="0"/>
          </a:p>
          <a:p>
            <a:pPr lvl="1" indent="0" marL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8B93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Understands JSON structure — but every aggregation is a hand-rolled reduce/group_by script.</a:t>
            </a:r>
            <a:endParaRPr lang="en-US" sz="1700" dirty="0"/>
          </a:p>
          <a:p>
            <a:pPr marL="279400" indent="-279400">
              <a:lnSpc>
                <a:spcPct val="128000"/>
              </a:lnSpc>
              <a:buSzPct val="100000"/>
              <a:buChar char="▸"/>
            </a:pPr>
            <a:r>
              <a:rPr lang="en-US" sz="1800" b="1" dirty="0">
                <a:solidFill>
                  <a:srgbClr val="00AD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Splunk / ELK</a:t>
            </a:r>
            <a:endParaRPr lang="en-US" sz="1700" dirty="0"/>
          </a:p>
          <a:p>
            <a:pPr lvl="1" indent="0" marL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8B93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query power — behind a cluster, an index, and an operations bill.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94360" y="5440680"/>
            <a:ext cx="11018520" cy="1005840"/>
          </a:xfrm>
          <a:prstGeom prst="roundRect">
            <a:avLst>
              <a:gd name="adj" fmla="val 7273"/>
            </a:avLst>
          </a:prstGeom>
          <a:solidFill>
            <a:srgbClr val="141830"/>
          </a:solidFill>
          <a:ln w="12700">
            <a:solidFill>
              <a:srgbClr val="00AD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54406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the_gap  </a:t>
            </a:r>
            <a:pPr indent="0" marL="0">
              <a:buNone/>
            </a:pPr>
            <a:r>
              <a:rPr lang="en-US" sz="1550" dirty="0">
                <a:solidFill>
                  <a:srgbClr val="E9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 structured, log-shaped query language — in a single static binary, not an ecosystem.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161B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"/>
            <a:ext cx="12191695" cy="27432"/>
          </a:xfrm>
          <a:prstGeom prst="rect">
            <a:avLst/>
          </a:prstGeom>
          <a:solidFill>
            <a:srgbClr val="00ADD8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82880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603504" y="182880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" y="182880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45720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vanquisher@logq</a:t>
            </a:r>
            <a:pPr indent="0" marL="0">
              <a:buNone/>
            </a:pPr>
            <a:r>
              <a:rPr lang="en-US" sz="1350" dirty="0">
                <a:solidFill>
                  <a:srgbClr val="8B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350" dirty="0">
                <a:solidFill>
                  <a:srgbClr val="7F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~/intro</a:t>
            </a:r>
            <a:pPr indent="0" marL="0">
              <a:buNone/>
            </a:pPr>
            <a:r>
              <a:rPr lang="en-US" sz="1350" dirty="0">
                <a:solidFill>
                  <a:srgbClr val="8B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$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601200" y="45720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 03 / 13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6803136"/>
            <a:ext cx="12191695" cy="18288"/>
          </a:xfrm>
          <a:prstGeom prst="rect">
            <a:avLst/>
          </a:prstGeom>
          <a:solidFill>
            <a:srgbClr val="2A305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logq · Team Vanquisher · Track B — Parsers &amp; Data Formats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685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8B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indent="0" marL="0">
              <a:buNone/>
            </a:pPr>
            <a:r>
              <a:rPr lang="en-US" sz="1400" b="1" spc="100" kern="0" dirty="0">
                <a:solidFill>
                  <a:srgbClr val="5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introducing-logq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1078992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binary. One line. No manifest.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521208" y="1801368"/>
            <a:ext cx="1005840" cy="41148"/>
          </a:xfrm>
          <a:prstGeom prst="rect">
            <a:avLst/>
          </a:prstGeom>
          <a:solidFill>
            <a:srgbClr val="00ADD8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" y="1920240"/>
            <a:ext cx="11018520" cy="777240"/>
          </a:xfrm>
          <a:prstGeom prst="roundRect">
            <a:avLst>
              <a:gd name="adj" fmla="val 9412"/>
            </a:avLst>
          </a:prstGeom>
          <a:solidFill>
            <a:srgbClr val="10142A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1920240"/>
            <a:ext cx="11018520" cy="777240"/>
          </a:xfrm>
          <a:prstGeom prst="rect">
            <a:avLst/>
          </a:prstGeom>
          <a:noFill/>
          <a:ln/>
        </p:spPr>
        <p:txBody>
          <a:bodyPr wrap="square" lIns="274320" tIns="274320" rIns="274320" bIns="27432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0A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logq </a:t>
            </a:r>
            <a:pPr algn="l" indent="0" marL="0">
              <a:buNone/>
            </a:pPr>
            <a:r>
              <a:rPr lang="en-US" sz="23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[flags] </a:t>
            </a:r>
            <a:pPr algn="l" indent="0" marL="0">
              <a:buNone/>
            </a:pPr>
            <a:r>
              <a:rPr lang="en-US" sz="2300" b="1" dirty="0">
                <a:solidFill>
                  <a:srgbClr val="5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'QUERY' </a:t>
            </a:r>
            <a:pPr algn="l" indent="0" marL="0">
              <a:buNone/>
            </a:pPr>
            <a:r>
              <a:rPr lang="en-US" sz="2300" b="1" dirty="0">
                <a:solidFill>
                  <a:srgbClr val="E9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[FILE|- ...]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594360" y="2971800"/>
            <a:ext cx="108813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28000"/>
              </a:lnSpc>
              <a:buSzPct val="100000"/>
              <a:buChar char="▸"/>
            </a:pPr>
            <a:r>
              <a:rPr lang="en-US" sz="1700" dirty="0">
                <a:solidFill>
                  <a:srgbClr val="E9ED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Speaks JSONL, logfmt, and plain text natively — auto-detected or forced</a:t>
            </a:r>
            <a:endParaRPr lang="en-US" sz="1700" dirty="0"/>
          </a:p>
          <a:p>
            <a:pPr marL="279400" indent="-279400">
              <a:lnSpc>
                <a:spcPct val="128000"/>
              </a:lnSpc>
              <a:buSzPct val="100000"/>
              <a:buChar char="▸"/>
            </a:pPr>
            <a:r>
              <a:rPr lang="en-US" sz="1700" dirty="0">
                <a:solidFill>
                  <a:srgbClr val="E9ED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MISSING is a real third state — distinct from JSON null, distinct from false</a:t>
            </a:r>
            <a:endParaRPr lang="en-US" sz="1700" dirty="0"/>
          </a:p>
          <a:p>
            <a:pPr marL="279400" indent="-279400">
              <a:lnSpc>
                <a:spcPct val="128000"/>
              </a:lnSpc>
              <a:buSzPct val="100000"/>
              <a:buChar char="▸"/>
            </a:pPr>
            <a:r>
              <a:rPr lang="en-US" sz="1700" dirty="0">
                <a:solidFill>
                  <a:srgbClr val="E9ED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level &gt;= "warn" — ordinal severity comparison, not string sort</a:t>
            </a:r>
            <a:endParaRPr lang="en-US" sz="1700" dirty="0"/>
          </a:p>
          <a:p>
            <a:pPr marL="279400" indent="-279400">
              <a:lnSpc>
                <a:spcPct val="128000"/>
              </a:lnSpc>
              <a:buSzPct val="100000"/>
              <a:buChar char="▸"/>
            </a:pPr>
            <a:r>
              <a:rPr lang="en-US" sz="1700" dirty="0">
                <a:solidFill>
                  <a:srgbClr val="E9ED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Filters, sorts, and aggregates (stats, percentiles, event-time windows)</a:t>
            </a:r>
            <a:endParaRPr lang="en-US" sz="1700" dirty="0"/>
          </a:p>
          <a:p>
            <a:pPr marL="279400" indent="-279400">
              <a:lnSpc>
                <a:spcPct val="128000"/>
              </a:lnSpc>
              <a:buSzPct val="100000"/>
              <a:buChar char="▸"/>
            </a:pPr>
            <a:r>
              <a:rPr lang="en-US" sz="1700" dirty="0">
                <a:solidFill>
                  <a:srgbClr val="E9ED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parser, every format decoder, hand-written against the Go standard library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94360" y="5897880"/>
            <a:ext cx="987552" cy="347472"/>
          </a:xfrm>
          <a:prstGeom prst="roundRect">
            <a:avLst>
              <a:gd name="adj" fmla="val 50000"/>
            </a:avLst>
          </a:prstGeom>
          <a:solidFill>
            <a:srgbClr val="00ADD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5897880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 1.23+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810512" y="5897880"/>
            <a:ext cx="1901952" cy="347472"/>
          </a:xfrm>
          <a:prstGeom prst="roundRect">
            <a:avLst>
              <a:gd name="adj" fmla="val 50000"/>
            </a:avLst>
          </a:prstGeom>
          <a:solidFill>
            <a:srgbClr val="1F6B45"/>
          </a:solidFill>
          <a:ln/>
        </p:spPr>
      </p:sp>
      <p:sp>
        <p:nvSpPr>
          <p:cNvPr id="20" name="Text 18"/>
          <p:cNvSpPr/>
          <p:nvPr/>
        </p:nvSpPr>
        <p:spPr>
          <a:xfrm>
            <a:off x="1810512" y="5897880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dependencies: zero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941064" y="5897880"/>
            <a:ext cx="896112" cy="347472"/>
          </a:xfrm>
          <a:prstGeom prst="roundRect">
            <a:avLst>
              <a:gd name="adj" fmla="val 50000"/>
            </a:avLst>
          </a:prstGeom>
          <a:solidFill>
            <a:srgbClr val="8A4B12"/>
          </a:solidFill>
          <a:ln/>
        </p:spPr>
      </p:sp>
      <p:sp>
        <p:nvSpPr>
          <p:cNvPr id="22" name="Text 20"/>
          <p:cNvSpPr/>
          <p:nvPr/>
        </p:nvSpPr>
        <p:spPr>
          <a:xfrm>
            <a:off x="3941064" y="5897880"/>
            <a:ext cx="896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 B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161B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"/>
            <a:ext cx="12191695" cy="27432"/>
          </a:xfrm>
          <a:prstGeom prst="rect">
            <a:avLst/>
          </a:prstGeom>
          <a:solidFill>
            <a:srgbClr val="00ADD8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82880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603504" y="182880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" y="182880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45720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vanquisher@logq</a:t>
            </a:r>
            <a:pPr indent="0" marL="0">
              <a:buNone/>
            </a:pPr>
            <a:r>
              <a:rPr lang="en-US" sz="1350" dirty="0">
                <a:solidFill>
                  <a:srgbClr val="8B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350" dirty="0">
                <a:solidFill>
                  <a:srgbClr val="7F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~/demo</a:t>
            </a:r>
            <a:pPr indent="0" marL="0">
              <a:buNone/>
            </a:pPr>
            <a:r>
              <a:rPr lang="en-US" sz="1350" dirty="0">
                <a:solidFill>
                  <a:srgbClr val="8B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$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601200" y="45720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 04 / 13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6803136"/>
            <a:ext cx="12191695" cy="18288"/>
          </a:xfrm>
          <a:prstGeom prst="rect">
            <a:avLst/>
          </a:prstGeom>
          <a:solidFill>
            <a:srgbClr val="2A305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logq · Team Vanquisher · Track B — Parsers &amp; Data Formats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685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8B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indent="0" marL="0">
              <a:buNone/>
            </a:pPr>
            <a:r>
              <a:rPr lang="en-US" sz="1400" b="1" spc="100" kern="0" dirty="0">
                <a:solidFill>
                  <a:srgbClr val="5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live-demo — real output, not mockups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1078992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queries. Captured verbatim from the compiled binary.</a:t>
            </a:r>
            <a:endParaRPr lang="en-US" sz="2500" dirty="0"/>
          </a:p>
        </p:txBody>
      </p:sp>
      <p:sp>
        <p:nvSpPr>
          <p:cNvPr id="13" name="Shape 11"/>
          <p:cNvSpPr/>
          <p:nvPr/>
        </p:nvSpPr>
        <p:spPr>
          <a:xfrm>
            <a:off x="521208" y="1801368"/>
            <a:ext cx="1005840" cy="41148"/>
          </a:xfrm>
          <a:prstGeom prst="rect">
            <a:avLst/>
          </a:prstGeom>
          <a:solidFill>
            <a:srgbClr val="00ADD8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" y="1828800"/>
            <a:ext cx="10972800" cy="2606040"/>
          </a:xfrm>
          <a:prstGeom prst="roundRect">
            <a:avLst>
              <a:gd name="adj" fmla="val 2807"/>
            </a:avLst>
          </a:prstGeom>
          <a:solidFill>
            <a:srgbClr val="10142A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1975104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6" name="Shape 14"/>
          <p:cNvSpPr/>
          <p:nvPr/>
        </p:nvSpPr>
        <p:spPr>
          <a:xfrm>
            <a:off x="978408" y="1975104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7" name="Shape 15"/>
          <p:cNvSpPr/>
          <p:nvPr/>
        </p:nvSpPr>
        <p:spPr>
          <a:xfrm>
            <a:off x="1179576" y="1975104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2267712"/>
            <a:ext cx="10332720" cy="1984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5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logq 'level == "error" and status &gt;= 500' app.jsonl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{"level":"error","service":"checkout","status":500,"duration_ms":812}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{"level":"error","service":"billing","status":502,"duration_ms":991}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5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logq -o table '| stats count(), p95(duration_ms) by service \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7CE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| sort count desc limit 3' app.jsonl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7CE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  count  p95_duration_ms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7CE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checkout      4              812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94360" y="4572000"/>
            <a:ext cx="10972800" cy="1143000"/>
          </a:xfrm>
          <a:prstGeom prst="roundRect">
            <a:avLst>
              <a:gd name="adj" fmla="val 6400"/>
            </a:avLst>
          </a:prstGeom>
          <a:solidFill>
            <a:srgbClr val="10142A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718304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1" name="Shape 19"/>
          <p:cNvSpPr/>
          <p:nvPr/>
        </p:nvSpPr>
        <p:spPr>
          <a:xfrm>
            <a:off x="978408" y="4718304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2" name="Shape 20"/>
          <p:cNvSpPr/>
          <p:nvPr/>
        </p:nvSpPr>
        <p:spPr>
          <a:xfrm>
            <a:off x="1179576" y="4718304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5010912"/>
            <a:ext cx="1033272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5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logq 'status &gt;==' app.jsonl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logq: 1:10: E-PARSE: unexpected '='; did you mean '=='?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94360" y="5852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3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Positioned, actionable parse errors — never a bare panic or a silent wrong answer.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161B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"/>
            <a:ext cx="12191695" cy="27432"/>
          </a:xfrm>
          <a:prstGeom prst="rect">
            <a:avLst/>
          </a:prstGeom>
          <a:solidFill>
            <a:srgbClr val="00ADD8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82880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603504" y="182880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" y="182880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45720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vanquisher@logq</a:t>
            </a:r>
            <a:pPr indent="0" marL="0">
              <a:buNone/>
            </a:pPr>
            <a:r>
              <a:rPr lang="en-US" sz="1350" dirty="0">
                <a:solidFill>
                  <a:srgbClr val="8B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350" dirty="0">
                <a:solidFill>
                  <a:srgbClr val="7F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~/architecture</a:t>
            </a:r>
            <a:pPr indent="0" marL="0">
              <a:buNone/>
            </a:pPr>
            <a:r>
              <a:rPr lang="en-US" sz="1350" dirty="0">
                <a:solidFill>
                  <a:srgbClr val="8B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$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601200" y="45720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 05 / 13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6803136"/>
            <a:ext cx="12191695" cy="18288"/>
          </a:xfrm>
          <a:prstGeom prst="rect">
            <a:avLst/>
          </a:prstGeom>
          <a:solidFill>
            <a:srgbClr val="2A305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logq · Team Vanquisher · Track B — Parsers &amp; Data Formats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685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8B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indent="0" marL="0">
              <a:buNone/>
            </a:pPr>
            <a:r>
              <a:rPr lang="en-US" sz="1400" b="1" spc="100" kern="0" dirty="0">
                <a:solidFill>
                  <a:srgbClr val="5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how-a-query-flows-through-logq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1078992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Compile the query once. Stream every record once.</a:t>
            </a:r>
            <a:endParaRPr lang="en-US" sz="2500" dirty="0"/>
          </a:p>
        </p:txBody>
      </p:sp>
      <p:sp>
        <p:nvSpPr>
          <p:cNvPr id="13" name="Shape 11"/>
          <p:cNvSpPr/>
          <p:nvPr/>
        </p:nvSpPr>
        <p:spPr>
          <a:xfrm>
            <a:off x="521208" y="1801368"/>
            <a:ext cx="1005840" cy="41148"/>
          </a:xfrm>
          <a:prstGeom prst="rect">
            <a:avLst/>
          </a:prstGeom>
          <a:solidFill>
            <a:srgbClr val="00ADD8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184708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A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COMPILED ONCE, AT STARTUP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" y="2194560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0F2A38"/>
          </a:solidFill>
          <a:ln w="19050">
            <a:solidFill>
              <a:srgbClr val="00AD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1945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9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46120" y="2194560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0F2A38"/>
          </a:solidFill>
          <a:ln w="19050">
            <a:solidFill>
              <a:srgbClr val="00AD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21945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Lexer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26080" y="2532888"/>
            <a:ext cx="320040" cy="146304"/>
          </a:xfrm>
          <a:prstGeom prst="rightArrow">
            <a:avLst/>
          </a:prstGeom>
          <a:solidFill>
            <a:srgbClr val="00ADD8"/>
          </a:solidFill>
          <a:ln/>
        </p:spPr>
      </p:sp>
      <p:sp>
        <p:nvSpPr>
          <p:cNvPr id="20" name="Shape 18"/>
          <p:cNvSpPr/>
          <p:nvPr/>
        </p:nvSpPr>
        <p:spPr>
          <a:xfrm>
            <a:off x="5897880" y="2194560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0F2A38"/>
          </a:solidFill>
          <a:ln w="19050">
            <a:solidFill>
              <a:srgbClr val="00AD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97880" y="21945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9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AST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577840" y="2532888"/>
            <a:ext cx="320040" cy="146304"/>
          </a:xfrm>
          <a:prstGeom prst="rightArrow">
            <a:avLst/>
          </a:prstGeom>
          <a:solidFill>
            <a:srgbClr val="00ADD8"/>
          </a:solidFill>
          <a:ln/>
        </p:spPr>
      </p:sp>
      <p:sp>
        <p:nvSpPr>
          <p:cNvPr id="23" name="Shape 21"/>
          <p:cNvSpPr/>
          <p:nvPr/>
        </p:nvSpPr>
        <p:spPr>
          <a:xfrm>
            <a:off x="8549640" y="2194560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0F2A38"/>
          </a:solidFill>
          <a:ln w="19050">
            <a:solidFill>
              <a:srgbClr val="00AD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49640" y="21945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Compiled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9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229600" y="2532888"/>
            <a:ext cx="320040" cy="146304"/>
          </a:xfrm>
          <a:prstGeom prst="rightArrow">
            <a:avLst/>
          </a:prstGeom>
          <a:solidFill>
            <a:srgbClr val="00ADD8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34290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5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 RECORD, STREAMED — ONE PASS, NO BUFFERING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94360" y="3767328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41830"/>
          </a:solidFill>
          <a:ln w="19050">
            <a:solidFill>
              <a:srgbClr val="2A30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767328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/ stdin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9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(gzip)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862072" y="3767328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41830"/>
          </a:solidFill>
          <a:ln w="19050">
            <a:solidFill>
              <a:srgbClr val="2A30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62072" y="3767328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9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(jsonl/logfmt/plain)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606040" y="4151376"/>
            <a:ext cx="256032" cy="146304"/>
          </a:xfrm>
          <a:prstGeom prst="rightArrow">
            <a:avLst/>
          </a:prstGeom>
          <a:solidFill>
            <a:srgbClr val="8B93A8"/>
          </a:solidFill>
          <a:ln/>
        </p:spPr>
      </p:sp>
      <p:sp>
        <p:nvSpPr>
          <p:cNvPr id="32" name="Shape 30"/>
          <p:cNvSpPr/>
          <p:nvPr/>
        </p:nvSpPr>
        <p:spPr>
          <a:xfrm>
            <a:off x="5129784" y="3767328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00ADD8"/>
          </a:solidFill>
          <a:ln w="19050">
            <a:solidFill>
              <a:srgbClr val="00AD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9784" y="3767328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14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3-valued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514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 eval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73752" y="4151376"/>
            <a:ext cx="256032" cy="146304"/>
          </a:xfrm>
          <a:prstGeom prst="rightArrow">
            <a:avLst/>
          </a:prstGeom>
          <a:solidFill>
            <a:srgbClr val="8B93A8"/>
          </a:solidFill>
          <a:ln/>
        </p:spPr>
      </p:sp>
      <p:sp>
        <p:nvSpPr>
          <p:cNvPr id="35" name="Shape 33"/>
          <p:cNvSpPr/>
          <p:nvPr/>
        </p:nvSpPr>
        <p:spPr>
          <a:xfrm>
            <a:off x="7397496" y="3767328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41830"/>
          </a:solidFill>
          <a:ln w="19050">
            <a:solidFill>
              <a:srgbClr val="2A30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97496" y="3767328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9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(fields·sort·stats)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141464" y="4151376"/>
            <a:ext cx="256032" cy="146304"/>
          </a:xfrm>
          <a:prstGeom prst="rightArrow">
            <a:avLst/>
          </a:prstGeom>
          <a:solidFill>
            <a:srgbClr val="8B93A8"/>
          </a:solidFill>
          <a:ln/>
        </p:spPr>
      </p:sp>
      <p:sp>
        <p:nvSpPr>
          <p:cNvPr id="38" name="Shape 36"/>
          <p:cNvSpPr/>
          <p:nvPr/>
        </p:nvSpPr>
        <p:spPr>
          <a:xfrm>
            <a:off x="9665208" y="3767328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41830"/>
          </a:solidFill>
          <a:ln w="19050">
            <a:solidFill>
              <a:srgbClr val="2A30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65208" y="3767328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9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(raw·jsonl·table·csv)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409176" y="4151376"/>
            <a:ext cx="256032" cy="146304"/>
          </a:xfrm>
          <a:prstGeom prst="rightArrow">
            <a:avLst/>
          </a:prstGeom>
          <a:solidFill>
            <a:srgbClr val="8B93A8"/>
          </a:solidFill>
          <a:ln/>
        </p:spPr>
      </p:sp>
      <p:sp>
        <p:nvSpPr>
          <p:cNvPr id="41" name="Shape 39"/>
          <p:cNvSpPr/>
          <p:nvPr/>
        </p:nvSpPr>
        <p:spPr>
          <a:xfrm>
            <a:off x="9715500" y="3017520"/>
            <a:ext cx="9144" cy="749808"/>
          </a:xfrm>
          <a:prstGeom prst="line">
            <a:avLst/>
          </a:prstGeom>
          <a:noFill/>
          <a:ln w="25400">
            <a:solidFill>
              <a:srgbClr val="00ADD8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594360" y="4892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0A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reused for every record — compiled once, never re-parsed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594360" y="5349240"/>
            <a:ext cx="11018520" cy="868680"/>
          </a:xfrm>
          <a:prstGeom prst="roundRect">
            <a:avLst>
              <a:gd name="adj" fmla="val 8421"/>
            </a:avLst>
          </a:prstGeom>
          <a:solidFill>
            <a:srgbClr val="141830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8680" y="534924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9ED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Result: a plain filter query buffers nothing beyond the current line — heap growth measured flat across a 10x input-size increase.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161B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"/>
            <a:ext cx="12191695" cy="27432"/>
          </a:xfrm>
          <a:prstGeom prst="rect">
            <a:avLst/>
          </a:prstGeom>
          <a:solidFill>
            <a:srgbClr val="00ADD8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82880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603504" y="182880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" y="182880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45720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vanquisher@logq</a:t>
            </a:r>
            <a:pPr indent="0" marL="0">
              <a:buNone/>
            </a:pPr>
            <a:r>
              <a:rPr lang="en-US" sz="1350" dirty="0">
                <a:solidFill>
                  <a:srgbClr val="8B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350" dirty="0">
                <a:solidFill>
                  <a:srgbClr val="7F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~/semantics</a:t>
            </a:r>
            <a:pPr indent="0" marL="0">
              <a:buNone/>
            </a:pPr>
            <a:r>
              <a:rPr lang="en-US" sz="1350" dirty="0">
                <a:solidFill>
                  <a:srgbClr val="8B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$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601200" y="45720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 06 / 13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6803136"/>
            <a:ext cx="12191695" cy="18288"/>
          </a:xfrm>
          <a:prstGeom prst="rect">
            <a:avLst/>
          </a:prstGeom>
          <a:solidFill>
            <a:srgbClr val="2A305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logq · Team Vanquisher · Track B — Parsers &amp; Data Formats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685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8B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indent="0" marL="0">
              <a:buNone/>
            </a:pPr>
            <a:r>
              <a:rPr lang="en-US" sz="1400" b="1" spc="100" kern="0" dirty="0">
                <a:solidFill>
                  <a:srgbClr val="5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innovation — query semantics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1078992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MISSING is not null. Null is not false.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521208" y="1801368"/>
            <a:ext cx="1005840" cy="41148"/>
          </a:xfrm>
          <a:prstGeom prst="rect">
            <a:avLst/>
          </a:prstGeom>
          <a:solidFill>
            <a:srgbClr val="00ADD8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1783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3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comparison against a missing field evaluates to false — never an error. A query never aborts mid-file just because one record has a different shape.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514600"/>
          <a:ext cx="7863840" cy="1920240"/>
        </p:xfrm>
        <a:graphic>
          <a:graphicData uri="http://schemas.openxmlformats.org/drawingml/2006/table">
            <a:tbl>
              <a:tblPr/>
              <a:tblGrid>
                <a:gridCol w="1965960"/>
                <a:gridCol w="1965960"/>
                <a:gridCol w="1965960"/>
                <a:gridCol w="1965960"/>
              </a:tblGrid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field in record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field == 1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exists(field)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field == null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30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9ED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absent (MISSING)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30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9ED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present, JSON null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FE0A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FE0A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30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9ED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present, 1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FE0A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FE0A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30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8961120" y="251460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10142A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0" y="269748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== 200
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B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false if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B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 is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B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absent —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B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never a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B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crash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22960" y="4754880"/>
            <a:ext cx="10789920" cy="1417320"/>
          </a:xfrm>
          <a:prstGeom prst="roundRect">
            <a:avLst>
              <a:gd name="adj" fmla="val 5161"/>
            </a:avLst>
          </a:prstGeom>
          <a:solidFill>
            <a:srgbClr val="141830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97280" y="4754880"/>
            <a:ext cx="102412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E9ED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sanctioned coercions only: string↔number, level ordinals, and timestamp ± duration — never a silent, surprising type conversion anywhere else in the language.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161B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"/>
            <a:ext cx="12191695" cy="27432"/>
          </a:xfrm>
          <a:prstGeom prst="rect">
            <a:avLst/>
          </a:prstGeom>
          <a:solidFill>
            <a:srgbClr val="00ADD8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82880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603504" y="182880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" y="182880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45720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vanquisher@logq</a:t>
            </a:r>
            <a:pPr indent="0" marL="0">
              <a:buNone/>
            </a:pPr>
            <a:r>
              <a:rPr lang="en-US" sz="1350" dirty="0">
                <a:solidFill>
                  <a:srgbClr val="8B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350" dirty="0">
                <a:solidFill>
                  <a:srgbClr val="7F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~/aggregation</a:t>
            </a:r>
            <a:pPr indent="0" marL="0">
              <a:buNone/>
            </a:pPr>
            <a:r>
              <a:rPr lang="en-US" sz="1350" dirty="0">
                <a:solidFill>
                  <a:srgbClr val="8B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$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601200" y="45720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 07 / 13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6803136"/>
            <a:ext cx="12191695" cy="18288"/>
          </a:xfrm>
          <a:prstGeom prst="rect">
            <a:avLst/>
          </a:prstGeom>
          <a:solidFill>
            <a:srgbClr val="2A305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logq · Team Vanquisher · Track B — Parsers &amp; Data Formats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685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8B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indent="0" marL="0">
              <a:buNone/>
            </a:pPr>
            <a:r>
              <a:rPr lang="en-US" sz="1400" b="1" spc="100" kern="0" dirty="0">
                <a:solidFill>
                  <a:srgbClr val="5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innovation — aggregation engine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1078992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stats: group, window, and rank — bounded in memory, always.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21208" y="1801368"/>
            <a:ext cx="1005840" cy="41148"/>
          </a:xfrm>
          <a:prstGeom prst="rect">
            <a:avLst/>
          </a:prstGeom>
          <a:solidFill>
            <a:srgbClr val="00ADD8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" y="1828800"/>
            <a:ext cx="10972800" cy="1005840"/>
          </a:xfrm>
          <a:prstGeom prst="roundRect">
            <a:avLst>
              <a:gd name="adj" fmla="val 7273"/>
            </a:avLst>
          </a:prstGeom>
          <a:solidFill>
            <a:srgbClr val="10142A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1975104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6" name="Shape 14"/>
          <p:cNvSpPr/>
          <p:nvPr/>
        </p:nvSpPr>
        <p:spPr>
          <a:xfrm>
            <a:off x="978408" y="1975104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7" name="Shape 15"/>
          <p:cNvSpPr/>
          <p:nvPr/>
        </p:nvSpPr>
        <p:spPr>
          <a:xfrm>
            <a:off x="1179576" y="1975104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2267712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5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logq '| stats count(), p95(duration_ms) by service every 1h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7CE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| sort count desc limit 10' app.jsonl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94360" y="3063240"/>
            <a:ext cx="108813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28000"/>
              </a:lnSpc>
              <a:buSzPct val="100000"/>
              <a:buChar char="▸"/>
            </a:pPr>
            <a:r>
              <a:rPr lang="en-US" sz="1650" b="1" dirty="0">
                <a:solidFill>
                  <a:srgbClr val="00AD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 · count_distinct · sum · avg · min · max · p50 · p95 · p99</a:t>
            </a:r>
            <a:endParaRPr lang="en-US" sz="1600" dirty="0"/>
          </a:p>
          <a:p>
            <a:pPr marL="279400" indent="-279400">
              <a:lnSpc>
                <a:spcPct val="128000"/>
              </a:lnSpc>
              <a:buSzPct val="100000"/>
              <a:buChar char="▸"/>
            </a:pPr>
            <a:r>
              <a:rPr lang="en-US" sz="1450" dirty="0">
                <a:solidFill>
                  <a:srgbClr val="8B93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Top-K over aggregate groups reuses the SAME bounded-heap sort/limit stage as ordinary records — no second, parallel implementation.</a:t>
            </a:r>
            <a:endParaRPr lang="en-US" sz="1600" dirty="0"/>
          </a:p>
          <a:p>
            <a:pPr marL="279400" indent="-279400">
              <a:lnSpc>
                <a:spcPct val="128000"/>
              </a:lnSpc>
              <a:buSzPct val="100000"/>
              <a:buChar char="▸"/>
            </a:pPr>
            <a:r>
              <a:rPr lang="en-US" sz="1450" dirty="0">
                <a:solidFill>
                  <a:srgbClr val="8B93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Percentiles: Vitter's Algorithm L reservoir sampling (1985) — O(k·(1+log(N/k))) — cited by name, not "Algorithm R" mis-cited.</a:t>
            </a:r>
            <a:endParaRPr lang="en-US" sz="1600" dirty="0"/>
          </a:p>
          <a:p>
            <a:pPr marL="279400" indent="-279400">
              <a:lnSpc>
                <a:spcPct val="128000"/>
              </a:lnSpc>
              <a:buSzPct val="100000"/>
              <a:buChar char="▸"/>
            </a:pPr>
            <a:r>
              <a:rPr lang="en-US" sz="1450" dirty="0">
                <a:solidFill>
                  <a:srgbClr val="8B93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count_distinct: salted FNV-1a — keyed against hash-flooding, fixed salt for batch-mode determinism.</a:t>
            </a:r>
            <a:endParaRPr lang="en-US" sz="1600" dirty="0"/>
          </a:p>
          <a:p>
            <a:pPr marL="279400" indent="-279400">
              <a:lnSpc>
                <a:spcPct val="128000"/>
              </a:lnSpc>
              <a:buSzPct val="100000"/>
              <a:buChar char="▸"/>
            </a:pPr>
            <a:r>
              <a:rPr lang="en-US" sz="1450" dirty="0">
                <a:solidFill>
                  <a:srgbClr val="8B93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1d windowing is DST-safe: civil-day alignment, tested across a real transition day.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161B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"/>
            <a:ext cx="12191695" cy="27432"/>
          </a:xfrm>
          <a:prstGeom prst="rect">
            <a:avLst/>
          </a:prstGeom>
          <a:solidFill>
            <a:srgbClr val="00ADD8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82880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603504" y="182880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" y="182880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45720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vanquisher@logq</a:t>
            </a:r>
            <a:pPr indent="0" marL="0">
              <a:buNone/>
            </a:pPr>
            <a:r>
              <a:rPr lang="en-US" sz="1350" dirty="0">
                <a:solidFill>
                  <a:srgbClr val="8B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350" dirty="0">
                <a:solidFill>
                  <a:srgbClr val="7F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~/zero-deps</a:t>
            </a:r>
            <a:pPr indent="0" marL="0">
              <a:buNone/>
            </a:pPr>
            <a:r>
              <a:rPr lang="en-US" sz="1350" dirty="0">
                <a:solidFill>
                  <a:srgbClr val="8B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$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601200" y="45720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 08 / 13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6803136"/>
            <a:ext cx="12191695" cy="18288"/>
          </a:xfrm>
          <a:prstGeom prst="rect">
            <a:avLst/>
          </a:prstGeom>
          <a:solidFill>
            <a:srgbClr val="2A305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logq · Team Vanquisher · Track B — Parsers &amp; Data Formats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685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8B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indent="0" marL="0">
              <a:buNone/>
            </a:pPr>
            <a:r>
              <a:rPr lang="en-US" sz="1400" b="1" spc="100" kern="0" dirty="0">
                <a:solidFill>
                  <a:srgbClr val="5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 dependencies, by design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1078992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 substitutions. Zero lines in go.mod's require block.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21208" y="1801368"/>
            <a:ext cx="1005840" cy="41148"/>
          </a:xfrm>
          <a:prstGeom prst="rect">
            <a:avLst/>
          </a:prstGeom>
          <a:solidFill>
            <a:srgbClr val="00ADD8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" y="1828800"/>
            <a:ext cx="11018520" cy="585216"/>
          </a:xfrm>
          <a:prstGeom prst="roundRect">
            <a:avLst>
              <a:gd name="adj" fmla="val 9375"/>
            </a:avLst>
          </a:prstGeom>
          <a:solidFill>
            <a:srgbClr val="141830"/>
          </a:solidFill>
          <a:ln w="9525">
            <a:solidFill>
              <a:srgbClr val="2A30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1828800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tidwall/gjson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886200" y="1828800"/>
            <a:ext cx="3657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93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343400" y="1828800"/>
            <a:ext cx="70408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encoding/json + ordered map + json.Number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" y="2514600"/>
            <a:ext cx="11018520" cy="585216"/>
          </a:xfrm>
          <a:prstGeom prst="roundRect">
            <a:avLst>
              <a:gd name="adj" fmla="val 9375"/>
            </a:avLst>
          </a:prstGeom>
          <a:solidFill>
            <a:srgbClr val="141830"/>
          </a:solidFill>
          <a:ln w="9525">
            <a:solidFill>
              <a:srgbClr val="2A30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2514600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spf13/cobra + pflag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886200" y="2514600"/>
            <a:ext cx="3657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93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343400" y="2514600"/>
            <a:ext cx="70408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flag.NewFlagSet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" y="3200400"/>
            <a:ext cx="11018520" cy="585216"/>
          </a:xfrm>
          <a:prstGeom prst="roundRect">
            <a:avLst>
              <a:gd name="adj" fmla="val 9375"/>
            </a:avLst>
          </a:prstGeom>
          <a:solidFill>
            <a:srgbClr val="141830"/>
          </a:solidFill>
          <a:ln w="9525">
            <a:solidFill>
              <a:srgbClr val="2A30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200400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go-logfmt/logfmt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886200" y="3200400"/>
            <a:ext cx="3657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93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343400" y="3200400"/>
            <a:ext cx="70408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hand-written state machine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4360" y="3886200"/>
            <a:ext cx="11018520" cy="585216"/>
          </a:xfrm>
          <a:prstGeom prst="roundRect">
            <a:avLst>
              <a:gd name="adj" fmla="val 9375"/>
            </a:avLst>
          </a:prstGeom>
          <a:solidFill>
            <a:srgbClr val="141830"/>
          </a:solidFill>
          <a:ln w="9525">
            <a:solidFill>
              <a:srgbClr val="2A30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3886200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araddon/dateparse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886200" y="3886200"/>
            <a:ext cx="3657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93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343400" y="3886200"/>
            <a:ext cx="70408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explicit, ordered time.Parse ladder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94360" y="4572000"/>
            <a:ext cx="11018520" cy="585216"/>
          </a:xfrm>
          <a:prstGeom prst="roundRect">
            <a:avLst>
              <a:gd name="adj" fmla="val 9375"/>
            </a:avLst>
          </a:prstGeom>
          <a:solidFill>
            <a:srgbClr val="141830"/>
          </a:solidFill>
          <a:ln w="9525">
            <a:solidFill>
              <a:srgbClr val="2A30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4572000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fsnotify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3886200" y="4572000"/>
            <a:ext cx="3657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93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343400" y="4572000"/>
            <a:ext cx="70408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os.Stat poll loop + os.SameFile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94360" y="5257800"/>
            <a:ext cx="11018520" cy="585216"/>
          </a:xfrm>
          <a:prstGeom prst="roundRect">
            <a:avLst>
              <a:gd name="adj" fmla="val 9375"/>
            </a:avLst>
          </a:prstGeom>
          <a:solidFill>
            <a:srgbClr val="141830"/>
          </a:solidFill>
          <a:ln w="9525">
            <a:solidFill>
              <a:srgbClr val="2A30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5257800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olekukonko/tablewriter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3886200" y="5257800"/>
            <a:ext cx="3657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93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4343400" y="5257800"/>
            <a:ext cx="70408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text/tabwriter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94360" y="6217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93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rationale for all 24, with real trade-offs disclosed (not just wins), in STDLIB.md.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161B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"/>
            <a:ext cx="12191695" cy="27432"/>
          </a:xfrm>
          <a:prstGeom prst="rect">
            <a:avLst/>
          </a:prstGeom>
          <a:solidFill>
            <a:srgbClr val="00ADD8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82880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603504" y="182880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" y="182880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45720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vanquisher@logq</a:t>
            </a:r>
            <a:pPr indent="0" marL="0">
              <a:buNone/>
            </a:pPr>
            <a:r>
              <a:rPr lang="en-US" sz="1350" dirty="0">
                <a:solidFill>
                  <a:srgbClr val="8B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350" dirty="0">
                <a:solidFill>
                  <a:srgbClr val="7F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~/rigor</a:t>
            </a:r>
            <a:pPr indent="0" marL="0">
              <a:buNone/>
            </a:pPr>
            <a:r>
              <a:rPr lang="en-US" sz="1350" dirty="0">
                <a:solidFill>
                  <a:srgbClr val="8B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$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601200" y="45720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 09 / 13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6803136"/>
            <a:ext cx="12191695" cy="18288"/>
          </a:xfrm>
          <a:prstGeom prst="rect">
            <a:avLst/>
          </a:prstGeom>
          <a:solidFill>
            <a:srgbClr val="2A305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logq · Team Vanquisher · Track B — Parsers &amp; Data Formats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685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8B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indent="0" marL="0">
              <a:buNone/>
            </a:pPr>
            <a:r>
              <a:rPr lang="en-US" sz="1400" b="1" spc="100" kern="0" dirty="0">
                <a:solidFill>
                  <a:srgbClr val="5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engineering rigor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1078992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Proven, not promised.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521208" y="1801368"/>
            <a:ext cx="1005840" cy="41148"/>
          </a:xfrm>
          <a:prstGeom prst="rect">
            <a:avLst/>
          </a:prstGeom>
          <a:solidFill>
            <a:srgbClr val="00ADD8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" y="182880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0F2A38"/>
          </a:solidFill>
          <a:ln w="15875">
            <a:solidFill>
              <a:srgbClr val="00AD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192024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746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94360" y="26517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9ED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tests passing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9ED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packages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383280" y="182880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0F2A38"/>
          </a:solidFill>
          <a:ln w="15875">
            <a:solidFill>
              <a:srgbClr val="00AD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192024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89.6%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3383280" y="26517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9ED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line coverage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9ED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internal/*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182880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0F2A38"/>
          </a:solidFill>
          <a:ln w="15875">
            <a:solidFill>
              <a:srgbClr val="00AD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192024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10.4M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172200" y="26517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9ED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fuzz executions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9ED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crashers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961120" y="182880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0F2A38"/>
          </a:solidFill>
          <a:ln w="15875">
            <a:solidFill>
              <a:srgbClr val="00AD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0" y="192024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9.7KB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8961120" y="26517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9ED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heap growth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9ED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across a 10x corpus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94360" y="3703320"/>
            <a:ext cx="108813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28000"/>
              </a:lnSpc>
              <a:buSzPct val="100000"/>
              <a:buChar char="▸"/>
            </a:pPr>
            <a:r>
              <a:rPr lang="en-US" sz="1550" dirty="0">
                <a:solidFill>
                  <a:srgbClr val="E9ED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Golden suite — real subprocess, byte-exact stdout/stderr/exit code across query × format × flag fixtures</a:t>
            </a:r>
            <a:endParaRPr lang="en-US" sz="1550" dirty="0"/>
          </a:p>
          <a:p>
            <a:pPr marL="279400" indent="-279400">
              <a:lnSpc>
                <a:spcPct val="128000"/>
              </a:lnSpc>
              <a:buSzPct val="100000"/>
              <a:buChar char="▸"/>
            </a:pPr>
            <a:r>
              <a:rPr lang="en-US" sz="1550" dirty="0">
                <a:solidFill>
                  <a:srgbClr val="E9ED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Chaos suite — truncated gzip mid-stream, interleaved oversized lines, exact-line-count interrupt timing</a:t>
            </a:r>
            <a:endParaRPr lang="en-US" sz="1550" dirty="0"/>
          </a:p>
          <a:p>
            <a:pPr marL="279400" indent="-279400">
              <a:lnSpc>
                <a:spcPct val="128000"/>
              </a:lnSpc>
              <a:buSzPct val="100000"/>
              <a:buChar char="▸"/>
            </a:pPr>
            <a:r>
              <a:rPr lang="en-US" sz="1550" dirty="0">
                <a:solidFill>
                  <a:srgbClr val="E9ED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Soak test — runs automatically every `go test ./...`, asserts memory stays flat, not just fast</a:t>
            </a:r>
            <a:endParaRPr lang="en-US" sz="1550" dirty="0"/>
          </a:p>
          <a:p>
            <a:pPr marL="279400" indent="-279400">
              <a:lnSpc>
                <a:spcPct val="128000"/>
              </a:lnSpc>
              <a:buSzPct val="100000"/>
              <a:buChar char="▸"/>
            </a:pPr>
            <a:r>
              <a:rPr lang="en-US" sz="1550" dirty="0">
                <a:solidFill>
                  <a:srgbClr val="E9ED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Reproducible build — two builds, identical SHA-256, verified locally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161B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"/>
            <a:ext cx="12191695" cy="27432"/>
          </a:xfrm>
          <a:prstGeom prst="rect">
            <a:avLst/>
          </a:prstGeom>
          <a:solidFill>
            <a:srgbClr val="00ADD8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82880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603504" y="182880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" y="182880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45720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vanquisher@logq</a:t>
            </a:r>
            <a:pPr indent="0" marL="0">
              <a:buNone/>
            </a:pPr>
            <a:r>
              <a:rPr lang="en-US" sz="1350" dirty="0">
                <a:solidFill>
                  <a:srgbClr val="8B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350" dirty="0">
                <a:solidFill>
                  <a:srgbClr val="7F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~/honesty</a:t>
            </a:r>
            <a:pPr indent="0" marL="0">
              <a:buNone/>
            </a:pPr>
            <a:r>
              <a:rPr lang="en-US" sz="1350" dirty="0">
                <a:solidFill>
                  <a:srgbClr val="8B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$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601200" y="45720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 10 / 13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6803136"/>
            <a:ext cx="12191695" cy="18288"/>
          </a:xfrm>
          <a:prstGeom prst="rect">
            <a:avLst/>
          </a:prstGeom>
          <a:solidFill>
            <a:srgbClr val="2A305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logq · Team Vanquisher · Track B — Parsers &amp; Data Formats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685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8B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indent="0" marL="0">
              <a:buNone/>
            </a:pPr>
            <a:r>
              <a:rPr lang="en-US" sz="1400" b="1" spc="100" kern="0" dirty="0">
                <a:solidFill>
                  <a:srgbClr val="5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honesty as a feature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1078992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publish the losses, not just the wins.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521208" y="1801368"/>
            <a:ext cx="1005840" cy="41148"/>
          </a:xfrm>
          <a:prstGeom prst="rect">
            <a:avLst/>
          </a:prstGeom>
          <a:solidFill>
            <a:srgbClr val="00ADD8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" y="1828800"/>
            <a:ext cx="5349240" cy="3886200"/>
          </a:xfrm>
          <a:prstGeom prst="roundRect">
            <a:avLst>
              <a:gd name="adj" fmla="val 1882"/>
            </a:avLst>
          </a:prstGeom>
          <a:solidFill>
            <a:srgbClr val="0E2419"/>
          </a:solidFill>
          <a:ln w="15875">
            <a:solidFill>
              <a:srgbClr val="1F6B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24231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Flat memory under scale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8680" y="301752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9ED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10x more input, +9.7KB heap. A streaming architecture that actually streams — measured, not asserted.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68680" y="42519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~19 MB/s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68680" y="489204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3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sustained filter throughput, consistent from a 20K-line in-process benchmark to a 76MB real-file run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1828800"/>
            <a:ext cx="5349240" cy="3886200"/>
          </a:xfrm>
          <a:prstGeom prst="roundRect">
            <a:avLst>
              <a:gd name="adj" fmla="val 1882"/>
            </a:avLst>
          </a:prstGeom>
          <a:solidFill>
            <a:srgbClr val="2A2010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37960" y="24231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-j N is not a speedup here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537960" y="3017520"/>
            <a:ext cx="48463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9ED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-j 8 measured 16% SLOWER than -j 1 on a 467K-line, 20K-group real run. Only the aggregation is sharded — JSON decode, the real bottleneck, stays single-threaded.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537960" y="489204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93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Published anyway — in BENCHMARKS.md, in the README, right here.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161B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"/>
            <a:ext cx="12191695" cy="27432"/>
          </a:xfrm>
          <a:prstGeom prst="rect">
            <a:avLst/>
          </a:prstGeom>
          <a:solidFill>
            <a:srgbClr val="00ADD8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82880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603504" y="182880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" y="182880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45720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vanquisher@logq</a:t>
            </a:r>
            <a:pPr indent="0" marL="0">
              <a:buNone/>
            </a:pPr>
            <a:r>
              <a:rPr lang="en-US" sz="1350" dirty="0">
                <a:solidFill>
                  <a:srgbClr val="8B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350" dirty="0">
                <a:solidFill>
                  <a:srgbClr val="7F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~/compliance</a:t>
            </a:r>
            <a:pPr indent="0" marL="0">
              <a:buNone/>
            </a:pPr>
            <a:r>
              <a:rPr lang="en-US" sz="1350" dirty="0">
                <a:solidFill>
                  <a:srgbClr val="8B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$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601200" y="45720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 11 / 13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6803136"/>
            <a:ext cx="12191695" cy="18288"/>
          </a:xfrm>
          <a:prstGeom prst="rect">
            <a:avLst/>
          </a:prstGeom>
          <a:solidFill>
            <a:srgbClr val="2A305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logq · Team Vanquisher · Track B — Parsers &amp; Data Formats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685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8B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indent="0" marL="0">
              <a:buNone/>
            </a:pPr>
            <a:r>
              <a:rPr lang="en-US" sz="1400" b="1" spc="100" kern="0" dirty="0">
                <a:solidFill>
                  <a:srgbClr val="5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hackathon compliance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1078992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B's four criteria — and the bonus we actually earned.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21208" y="1801368"/>
            <a:ext cx="1005840" cy="41148"/>
          </a:xfrm>
          <a:prstGeom prst="rect">
            <a:avLst/>
          </a:prstGeom>
          <a:solidFill>
            <a:srgbClr val="00ADD8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" y="18288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0ADD8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14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43000" y="180136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Handles ugly edge cases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43000" y="2194560"/>
            <a:ext cx="9966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3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gzip truncation mid-stream, oversized lines, DST transition days, malformed JSON, dup keys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" y="27432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0ADD8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14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43000" y="271576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Positioned errors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43000" y="3108960"/>
            <a:ext cx="9966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3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E-PARSE with line:col + "did you mean" suggestions — Levenshtein, radius 2, hand-written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" y="36576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0ADD8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657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14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43000" y="363016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test suite proving it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43000" y="4023360"/>
            <a:ext cx="9966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3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746 tests · golden · chaos · fuzz (10.4M execs) · soak — not a claim, a run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4360" y="45720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0ADD8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14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143000" y="454456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Hand-built formats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143000" y="4937760"/>
            <a:ext cx="9966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3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JSONL, logfmt, plain — every decoder written against encoding/json + bufio, zero libraries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94360" y="5623560"/>
            <a:ext cx="11018520" cy="640080"/>
          </a:xfrm>
          <a:prstGeom prst="roundRect">
            <a:avLst>
              <a:gd name="adj" fmla="val 11429"/>
            </a:avLst>
          </a:prstGeom>
          <a:solidFill>
            <a:srgbClr val="0F2A38"/>
          </a:solidFill>
          <a:ln w="12700">
            <a:solidFill>
              <a:srgbClr val="00AD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56235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AD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Declared bonus: Reproducible Build (+5)  </a:t>
            </a:r>
            <a:pPr indent="0" marL="0">
              <a:buNone/>
            </a:pPr>
            <a:r>
              <a:rPr lang="en-US" sz="1350" dirty="0">
                <a:solidFill>
                  <a:srgbClr val="E9ED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two builds, identical SHA-256, verified locally. One bonus, nailed.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161B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"/>
            <a:ext cx="12191695" cy="27432"/>
          </a:xfrm>
          <a:prstGeom prst="rect">
            <a:avLst/>
          </a:prstGeom>
          <a:solidFill>
            <a:srgbClr val="00ADD8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82880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603504" y="182880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" y="182880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45720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vanquisher@logq</a:t>
            </a:r>
            <a:pPr indent="0" marL="0">
              <a:buNone/>
            </a:pPr>
            <a:r>
              <a:rPr lang="en-US" sz="1350" dirty="0">
                <a:solidFill>
                  <a:srgbClr val="8B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350" dirty="0">
                <a:solidFill>
                  <a:srgbClr val="7F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~/next</a:t>
            </a:r>
            <a:pPr indent="0" marL="0">
              <a:buNone/>
            </a:pPr>
            <a:r>
              <a:rPr lang="en-US" sz="1350" dirty="0">
                <a:solidFill>
                  <a:srgbClr val="8B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$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601200" y="45720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 12 / 13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6803136"/>
            <a:ext cx="12191695" cy="18288"/>
          </a:xfrm>
          <a:prstGeom prst="rect">
            <a:avLst/>
          </a:prstGeom>
          <a:solidFill>
            <a:srgbClr val="2A305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logq · Team Vanquisher · Track B — Parsers &amp; Data Formats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685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8B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indent="0" marL="0">
              <a:buNone/>
            </a:pPr>
            <a:r>
              <a:rPr lang="en-US" sz="1400" b="1" spc="100" kern="0" dirty="0">
                <a:solidFill>
                  <a:srgbClr val="5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honest limits — what we'd add next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1078992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hidden. A short, real list.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521208" y="1801368"/>
            <a:ext cx="1005840" cy="41148"/>
          </a:xfrm>
          <a:prstGeom prst="rect">
            <a:avLst/>
          </a:prstGeom>
          <a:solidFill>
            <a:srgbClr val="00ADD8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1965960"/>
            <a:ext cx="108813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28000"/>
              </a:lnSpc>
              <a:buSzPct val="100000"/>
              <a:buChar char="▸"/>
            </a:pPr>
            <a:r>
              <a:rPr lang="en-US" sz="1650" dirty="0">
                <a:solidFill>
                  <a:srgbClr val="E9ED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-race verified in CI (this dev machine has no C compiler — reasoned race-free, not yet observed passing)</a:t>
            </a:r>
            <a:endParaRPr lang="en-US" sz="1650" dirty="0"/>
          </a:p>
          <a:p>
            <a:pPr marL="279400" indent="-279400">
              <a:lnSpc>
                <a:spcPct val="128000"/>
              </a:lnSpc>
              <a:buSzPct val="100000"/>
              <a:buChar char="▸"/>
            </a:pPr>
            <a:r>
              <a:rPr lang="en-US" sz="1650" dirty="0">
                <a:solidFill>
                  <a:srgbClr val="E9ED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Per-aggregate-function skipped_nonnumeric{fn,field} counters — spec'd, not yet wired</a:t>
            </a:r>
            <a:endParaRPr lang="en-US" sz="1650" dirty="0"/>
          </a:p>
          <a:p>
            <a:pPr marL="279400" indent="-279400">
              <a:lnSpc>
                <a:spcPct val="128000"/>
              </a:lnSpc>
              <a:buSzPct val="100000"/>
              <a:buChar char="▸"/>
            </a:pPr>
            <a:r>
              <a:rPr lang="en-US" sz="1650" dirty="0">
                <a:solidFill>
                  <a:srgbClr val="E9ED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-j/--workers doesn't shard JSON decode — only stats' own aggregation math, disclosed in BENCHMARKS.md</a:t>
            </a:r>
            <a:endParaRPr lang="en-US" sz="1650" dirty="0"/>
          </a:p>
          <a:p>
            <a:pPr marL="279400" indent="-279400">
              <a:lnSpc>
                <a:spcPct val="128000"/>
              </a:lnSpc>
              <a:buSzPct val="100000"/>
              <a:buChar char="▸"/>
            </a:pPr>
            <a:r>
              <a:rPr lang="en-US" sz="1650" dirty="0">
                <a:solidFill>
                  <a:srgbClr val="E9ED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Watch mode's line-splitting is a smaller rule set than batch mode's (no BOM-strip, no oversized-line handling)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594360" y="5212080"/>
            <a:ext cx="11018520" cy="914400"/>
          </a:xfrm>
          <a:prstGeom prst="roundRect">
            <a:avLst>
              <a:gd name="adj" fmla="val 8000"/>
            </a:avLst>
          </a:prstGeom>
          <a:solidFill>
            <a:srgbClr val="141830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52120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E9ED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one of these fails with a clear message or is documented plainly — never a silent degradation.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91695" cy="5486"/>
          </a:xfrm>
          <a:prstGeom prst="rect">
            <a:avLst/>
          </a:prstGeom>
          <a:solidFill>
            <a:srgbClr val="1A244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1A244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371600"/>
            <a:ext cx="12191695" cy="5486"/>
          </a:xfrm>
          <a:prstGeom prst="rect">
            <a:avLst/>
          </a:prstGeom>
          <a:solidFill>
            <a:srgbClr val="1A244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1A2440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2286000"/>
            <a:ext cx="12191695" cy="5486"/>
          </a:xfrm>
          <a:prstGeom prst="rect">
            <a:avLst/>
          </a:prstGeom>
          <a:solidFill>
            <a:srgbClr val="1A2440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1A2440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1A2440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1A2440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4114800"/>
            <a:ext cx="12191695" cy="5486"/>
          </a:xfrm>
          <a:prstGeom prst="rect">
            <a:avLst/>
          </a:prstGeom>
          <a:solidFill>
            <a:srgbClr val="1A2440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1A2440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029200"/>
            <a:ext cx="12191695" cy="5486"/>
          </a:xfrm>
          <a:prstGeom prst="rect">
            <a:avLst/>
          </a:prstGeom>
          <a:solidFill>
            <a:srgbClr val="1A244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1A244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5943600"/>
            <a:ext cx="12191695" cy="5486"/>
          </a:xfrm>
          <a:prstGeom prst="rect">
            <a:avLst/>
          </a:prstGeom>
          <a:solidFill>
            <a:srgbClr val="1A2440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1A2440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182880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you.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822960" y="29718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AB8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logq — query gigabytes of logs with one line.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822960" y="3703320"/>
            <a:ext cx="7680960" cy="1051560"/>
          </a:xfrm>
          <a:prstGeom prst="roundRect">
            <a:avLst>
              <a:gd name="adj" fmla="val 6957"/>
            </a:avLst>
          </a:prstGeom>
          <a:solidFill>
            <a:srgbClr val="10142A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5840" y="3849624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1" name="Shape 19"/>
          <p:cNvSpPr/>
          <p:nvPr/>
        </p:nvSpPr>
        <p:spPr>
          <a:xfrm>
            <a:off x="1207008" y="3849624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2" name="Shape 20"/>
          <p:cNvSpPr/>
          <p:nvPr/>
        </p:nvSpPr>
        <p:spPr>
          <a:xfrm>
            <a:off x="1408176" y="3849624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" y="4142232"/>
            <a:ext cx="704088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5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go build -trimpath -buildvcs=false -o bin/logq ./cmd/logq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5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logq 'level == "error"' app.jsonl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22960" y="5120640"/>
            <a:ext cx="457200" cy="457200"/>
          </a:xfrm>
          <a:prstGeom prst="rect">
            <a:avLst/>
          </a:prstGeom>
          <a:solidFill>
            <a:srgbClr val="00ADD8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120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417320" y="5120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Vanquisher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22960" y="5715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C7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github.com/pooja-conqueror/LOGQ  ·  Zero Dependency Hackathon 2026  ·  Track B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Team Vanquisher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logq — Zero Dependency Hackathon 2026</dc:title>
  <dc:subject>PptxGenJS Presentation</dc:subject>
  <dc:creator>Team Vanquisher</dc:creator>
  <cp:lastModifiedBy>Team Vanquisher</cp:lastModifiedBy>
  <cp:revision>1</cp:revision>
  <dcterms:created xsi:type="dcterms:W3CDTF">2026-08-30T10:38:37Z</dcterms:created>
  <dcterms:modified xsi:type="dcterms:W3CDTF">2026-08-30T10:38:37Z</dcterms:modified>
</cp:coreProperties>
</file>